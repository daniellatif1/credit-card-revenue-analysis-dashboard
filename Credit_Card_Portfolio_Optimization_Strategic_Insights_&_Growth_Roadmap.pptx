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00125" y="1586638"/>
            <a:ext cx="7143750" cy="197022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000125" y="1586638"/>
            <a:ext cx="28575" cy="1970224"/>
          </a:xfrm>
          <a:prstGeom prst="rect">
            <a:avLst/>
          </a:prstGeom>
          <a:solidFill>
            <a:srgbClr val="4BC0C8"/>
          </a:solidFill>
          <a:ln/>
        </p:spPr>
      </p:sp>
      <p:sp>
        <p:nvSpPr>
          <p:cNvPr id="5" name="Text 2"/>
          <p:cNvSpPr/>
          <p:nvPr/>
        </p:nvSpPr>
        <p:spPr>
          <a:xfrm>
            <a:off x="1285875" y="1586638"/>
            <a:ext cx="68580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spc="-1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CREDIT CARD PORTFOLIO</a:t>
            </a:r>
            <a:pPr algn="l" indent="0" marL="0">
              <a:lnSpc>
                <a:spcPts val="4000"/>
              </a:lnSpc>
              <a:buNone/>
            </a:pPr>
            <a:r>
              <a:rPr lang="en-US" sz="3294" b="1" spc="-1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l" indent="0" marL="0">
              <a:lnSpc>
                <a:spcPts val="4000"/>
              </a:lnSpc>
              <a:buNone/>
            </a:pPr>
            <a:r>
              <a:rPr lang="en-US" sz="3294" b="1" spc="-1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OPTIMIZATION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1285875" y="2763906"/>
            <a:ext cx="6858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4BC0C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Insights &amp; Growth Roadmap</a:t>
            </a:r>
            <a:endParaRPr lang="en-US" sz="1704" dirty="0"/>
          </a:p>
        </p:txBody>
      </p:sp>
      <p:sp>
        <p:nvSpPr>
          <p:cNvPr id="7" name="Text 4"/>
          <p:cNvSpPr/>
          <p:nvPr/>
        </p:nvSpPr>
        <p:spPr>
          <a:xfrm>
            <a:off x="1285875" y="3362195"/>
            <a:ext cx="6858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spc="2" kern="0" dirty="0">
                <a:solidFill>
                  <a:srgbClr val="F6AE2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DANIEL LATIF | BUSINESS ANALYST &amp; DATA STRATEGIST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SUMMARY: $55M REVENUE PORTFOLIO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143000"/>
            <a:ext cx="1785938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$55M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571500" y="1618059"/>
            <a:ext cx="1785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spc="1" kern="0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REVENUE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2643188" y="1143000"/>
            <a:ext cx="1785938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$45M</a:t>
            </a:r>
            <a:endParaRPr lang="en-US" sz="2436" dirty="0"/>
          </a:p>
        </p:txBody>
      </p:sp>
      <p:sp>
        <p:nvSpPr>
          <p:cNvPr id="7" name="Text 4"/>
          <p:cNvSpPr/>
          <p:nvPr/>
        </p:nvSpPr>
        <p:spPr>
          <a:xfrm>
            <a:off x="2643188" y="1618059"/>
            <a:ext cx="1785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spc="1" kern="0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TRANSACTION VOLUME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714875" y="1143000"/>
            <a:ext cx="1785938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$7.84M</a:t>
            </a:r>
            <a:endParaRPr lang="en-US" sz="2436" dirty="0"/>
          </a:p>
        </p:txBody>
      </p:sp>
      <p:sp>
        <p:nvSpPr>
          <p:cNvPr id="9" name="Text 6"/>
          <p:cNvSpPr/>
          <p:nvPr/>
        </p:nvSpPr>
        <p:spPr>
          <a:xfrm>
            <a:off x="4714875" y="1618059"/>
            <a:ext cx="1785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spc="1" kern="0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INTEREST INCOME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6786563" y="1143000"/>
            <a:ext cx="1785938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Q3 Peak</a:t>
            </a:r>
            <a:endParaRPr lang="en-US" sz="2436" dirty="0"/>
          </a:p>
        </p:txBody>
      </p:sp>
      <p:sp>
        <p:nvSpPr>
          <p:cNvPr id="11" name="Text 8"/>
          <p:cNvSpPr/>
          <p:nvPr/>
        </p:nvSpPr>
        <p:spPr>
          <a:xfrm>
            <a:off x="6786563" y="1618059"/>
            <a:ext cx="1785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spc="1" kern="0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SEASONALITY</a:t>
            </a:r>
            <a:endParaRPr lang="en-US" sz="834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02061"/>
            <a:ext cx="4286250" cy="2143125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813" y="2230636"/>
            <a:ext cx="114300" cy="114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86413" y="2202061"/>
            <a:ext cx="298608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Trend: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Stable revenue growth with a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significant seasonal peak in Q3, suggesting strong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consumer spending during that period.</a:t>
            </a:r>
            <a:endParaRPr lang="en-US" sz="784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813" y="2950676"/>
            <a:ext cx="128588" cy="1143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600700" y="2922101"/>
            <a:ext cx="297180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Dominance: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"Blue" card tier remains the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primary revenue engine, though it presents a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concentration risk.</a:t>
            </a:r>
            <a:endParaRPr lang="en-US" sz="784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7813" y="3670715"/>
            <a:ext cx="85725" cy="1143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557838" y="3642140"/>
            <a:ext cx="301466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Behavioral Insight: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Traditional "Swipe" transactions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account for 64% of volume, indicating a major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opportunity for digital migration.</a:t>
            </a:r>
            <a:endParaRPr lang="en-US" sz="78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CONTEXT: NAVIGATING THE 2025 CREDIT LANDSCAPE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3874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8675" y="992981"/>
            <a:ext cx="127515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Industry Growth</a:t>
            </a:r>
            <a:endParaRPr lang="en-US" sz="987" dirty="0"/>
          </a:p>
        </p:txBody>
      </p:sp>
      <p:sp>
        <p:nvSpPr>
          <p:cNvPr id="6" name="Text 2"/>
          <p:cNvSpPr/>
          <p:nvPr/>
        </p:nvSpPr>
        <p:spPr>
          <a:xfrm>
            <a:off x="571500" y="1251942"/>
            <a:ext cx="35718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Global credit card purchase volume has seen a 13% increase since 2022, reaching $3.6 trillion among top issuers.</a:t>
            </a:r>
            <a:endParaRPr lang="en-US" sz="834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60544"/>
            <a:ext cx="3286125" cy="142875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33124"/>
            <a:ext cx="128588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85813" y="3832231"/>
            <a:ext cx="92511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 Shift</a:t>
            </a:r>
            <a:endParaRPr lang="en-US" sz="987" dirty="0"/>
          </a:p>
        </p:txBody>
      </p:sp>
      <p:sp>
        <p:nvSpPr>
          <p:cNvPr id="10" name="Text 4"/>
          <p:cNvSpPr/>
          <p:nvPr/>
        </p:nvSpPr>
        <p:spPr>
          <a:xfrm>
            <a:off x="571500" y="4091192"/>
            <a:ext cx="35718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Contactless and mobile wallet adoption is accelerating, with leaders seeing 20%+ higher retention in digitally active users.</a:t>
            </a:r>
            <a:endParaRPr lang="en-US" sz="834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3519" y="993874"/>
            <a:ext cx="171450" cy="1714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550694" y="992981"/>
            <a:ext cx="173235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Profitability Pressures</a:t>
            </a:r>
            <a:endParaRPr lang="en-US" sz="987" dirty="0"/>
          </a:p>
        </p:txBody>
      </p:sp>
      <p:sp>
        <p:nvSpPr>
          <p:cNvPr id="13" name="Text 6"/>
          <p:cNvSpPr/>
          <p:nvPr/>
        </p:nvSpPr>
        <p:spPr>
          <a:xfrm>
            <a:off x="5293519" y="1251942"/>
            <a:ext cx="327898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Rising fraud and operational costs are squeezing margins, making portfolio efficiency and digital adoption critical.</a:t>
            </a:r>
            <a:endParaRPr lang="en-US" sz="834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3519" y="1904312"/>
            <a:ext cx="214313" cy="17145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593556" y="1903419"/>
            <a:ext cx="162520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Consumer Resilience</a:t>
            </a:r>
            <a:endParaRPr lang="en-US" sz="987" dirty="0"/>
          </a:p>
        </p:txBody>
      </p:sp>
      <p:sp>
        <p:nvSpPr>
          <p:cNvPr id="16" name="Text 8"/>
          <p:cNvSpPr/>
          <p:nvPr/>
        </p:nvSpPr>
        <p:spPr>
          <a:xfrm>
            <a:off x="5293519" y="2162380"/>
            <a:ext cx="327898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Despite economic shifts, mid-income segments show the highest growth potential for revolving credit products.</a:t>
            </a:r>
            <a:endParaRPr lang="en-US" sz="8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PORTFOLIO COMPOSITION &amp; CONCENTRATION RISK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60897"/>
            <a:ext cx="3571875" cy="25003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45666" y="4104084"/>
            <a:ext cx="262354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83% Revenue Concentration</a:t>
            </a:r>
            <a:endParaRPr lang="en-US" sz="1193" dirty="0"/>
          </a:p>
        </p:txBody>
      </p:sp>
      <p:sp>
        <p:nvSpPr>
          <p:cNvPr id="6" name="Text 2"/>
          <p:cNvSpPr/>
          <p:nvPr/>
        </p:nvSpPr>
        <p:spPr>
          <a:xfrm>
            <a:off x="4643438" y="1448814"/>
            <a:ext cx="39290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6AE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BLUE CARD DOMINANCE</a:t>
            </a:r>
            <a:endParaRPr lang="en-US" sz="885" dirty="0"/>
          </a:p>
        </p:txBody>
      </p:sp>
      <p:sp>
        <p:nvSpPr>
          <p:cNvPr id="7" name="Text 3"/>
          <p:cNvSpPr/>
          <p:nvPr/>
        </p:nvSpPr>
        <p:spPr>
          <a:xfrm>
            <a:off x="4643438" y="1691701"/>
            <a:ext cx="392906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BC0C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Blue card tier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remains the primary revenue engine, contributing 83%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 total revenue. This creates a significant vulnerability to entry-level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market shifts and competitive pressure.</a:t>
            </a:r>
            <a:endParaRPr lang="en-US" sz="834" dirty="0"/>
          </a:p>
        </p:txBody>
      </p:sp>
      <p:sp>
        <p:nvSpPr>
          <p:cNvPr id="8" name="Text 4"/>
          <p:cNvSpPr/>
          <p:nvPr/>
        </p:nvSpPr>
        <p:spPr>
          <a:xfrm>
            <a:off x="4643438" y="2647485"/>
            <a:ext cx="39290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6AE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PREMIUM TIER GAP</a:t>
            </a:r>
            <a:endParaRPr lang="en-US" sz="885" dirty="0"/>
          </a:p>
        </p:txBody>
      </p:sp>
      <p:sp>
        <p:nvSpPr>
          <p:cNvPr id="9" name="Text 5"/>
          <p:cNvSpPr/>
          <p:nvPr/>
        </p:nvSpPr>
        <p:spPr>
          <a:xfrm>
            <a:off x="4643438" y="2890372"/>
            <a:ext cx="392906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Gold, Silver, and Platinum tiers contribute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BC0C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less than 17% combined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This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highlights a major under-penetration in high-value segments and a clear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opportunity for upselling.</a:t>
            </a: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4643438" y="3846156"/>
            <a:ext cx="39290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6AE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MIX STABILITY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4643438" y="4089043"/>
            <a:ext cx="392906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Interest income represents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BC0C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~14% of total revenue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indicating a healthy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between transaction fees and revolving credit, providing a stable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foundation for growth.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 DYNAMICS: THE DIGITAL TRANSFORMATION OPPORTUNITY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8" y="1600200"/>
            <a:ext cx="2857500" cy="25003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69889" y="2573536"/>
            <a:ext cx="775097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64%</a:t>
            </a:r>
            <a:endParaRPr lang="en-US" sz="2436" dirty="0"/>
          </a:p>
        </p:txBody>
      </p:sp>
      <p:sp>
        <p:nvSpPr>
          <p:cNvPr id="6" name="Text 2"/>
          <p:cNvSpPr/>
          <p:nvPr/>
        </p:nvSpPr>
        <p:spPr>
          <a:xfrm>
            <a:off x="1969889" y="2991445"/>
            <a:ext cx="77509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SWIPE VOLUME</a:t>
            </a:r>
            <a:endParaRPr lang="en-US" sz="727" dirty="0"/>
          </a:p>
        </p:txBody>
      </p:sp>
      <p:sp>
        <p:nvSpPr>
          <p:cNvPr id="7" name="Text 3"/>
          <p:cNvSpPr/>
          <p:nvPr/>
        </p:nvSpPr>
        <p:spPr>
          <a:xfrm>
            <a:off x="1476077" y="4171950"/>
            <a:ext cx="72687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Physical Swipe</a:t>
            </a:r>
            <a:endParaRPr lang="en-US" sz="727" dirty="0"/>
          </a:p>
        </p:txBody>
      </p:sp>
      <p:sp>
        <p:nvSpPr>
          <p:cNvPr id="8" name="Text 4"/>
          <p:cNvSpPr/>
          <p:nvPr/>
        </p:nvSpPr>
        <p:spPr>
          <a:xfrm>
            <a:off x="2467273" y="4171950"/>
            <a:ext cx="8929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Digital/Contactless</a:t>
            </a:r>
            <a:endParaRPr lang="en-US" sz="727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206" y="1510568"/>
            <a:ext cx="142875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29238" y="1495388"/>
            <a:ext cx="131980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6AE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DIGITAL LAG</a:t>
            </a:r>
            <a:endParaRPr lang="en-US" sz="987" dirty="0"/>
          </a:p>
        </p:txBody>
      </p:sp>
      <p:sp>
        <p:nvSpPr>
          <p:cNvPr id="11" name="Text 6"/>
          <p:cNvSpPr/>
          <p:nvPr/>
        </p:nvSpPr>
        <p:spPr>
          <a:xfrm>
            <a:off x="5079206" y="1775780"/>
            <a:ext cx="3493294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Heavy reliance on physical swipe transactions indicates a customer base not yet integrated into the digital ecosystem, leading to higher processing costs and lower engagement.</a:t>
            </a:r>
            <a:endParaRPr lang="en-US" sz="834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206" y="2481030"/>
            <a:ext cx="142875" cy="142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29238" y="2465849"/>
            <a:ext cx="200382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6AE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RETENTION &amp; VALUE LINK</a:t>
            </a:r>
            <a:endParaRPr lang="en-US" sz="987" dirty="0"/>
          </a:p>
        </p:txBody>
      </p:sp>
      <p:sp>
        <p:nvSpPr>
          <p:cNvPr id="14" name="Text 8"/>
          <p:cNvSpPr/>
          <p:nvPr/>
        </p:nvSpPr>
        <p:spPr>
          <a:xfrm>
            <a:off x="5079206" y="2746242"/>
            <a:ext cx="3493294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confirms that customers utilizing digital wallets exhibit significantly higher engagement metrics compared to swipe-only users.</a:t>
            </a:r>
            <a:endParaRPr lang="en-US" sz="834" dirty="0"/>
          </a:p>
        </p:txBody>
      </p:sp>
      <p:sp>
        <p:nvSpPr>
          <p:cNvPr id="15" name="Text 9"/>
          <p:cNvSpPr/>
          <p:nvPr/>
        </p:nvSpPr>
        <p:spPr>
          <a:xfrm>
            <a:off x="5079206" y="3479174"/>
            <a:ext cx="58043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+15%</a:t>
            </a:r>
            <a:endParaRPr lang="en-US" sz="1602" dirty="0"/>
          </a:p>
        </p:txBody>
      </p:sp>
      <p:sp>
        <p:nvSpPr>
          <p:cNvPr id="16" name="Text 10"/>
          <p:cNvSpPr/>
          <p:nvPr/>
        </p:nvSpPr>
        <p:spPr>
          <a:xfrm>
            <a:off x="5731073" y="3561327"/>
            <a:ext cx="1428750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Higher Lifetime Value (LTV)</a:t>
            </a:r>
            <a:endParaRPr lang="en-US" sz="834" dirty="0"/>
          </a:p>
        </p:txBody>
      </p:sp>
      <p:sp>
        <p:nvSpPr>
          <p:cNvPr id="17" name="Text 11"/>
          <p:cNvSpPr/>
          <p:nvPr/>
        </p:nvSpPr>
        <p:spPr>
          <a:xfrm>
            <a:off x="5079206" y="3757780"/>
            <a:ext cx="507206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20%</a:t>
            </a:r>
            <a:endParaRPr lang="en-US" sz="1602" dirty="0"/>
          </a:p>
        </p:txBody>
      </p:sp>
      <p:sp>
        <p:nvSpPr>
          <p:cNvPr id="18" name="Text 12"/>
          <p:cNvSpPr/>
          <p:nvPr/>
        </p:nvSpPr>
        <p:spPr>
          <a:xfrm>
            <a:off x="5657850" y="3839933"/>
            <a:ext cx="1844873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Lower Churn Rate for Digital Users</a:t>
            </a:r>
            <a:endParaRPr lang="en-US" sz="834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206" y="4158723"/>
            <a:ext cx="107156" cy="14287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93519" y="4143542"/>
            <a:ext cx="167520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6AE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ACTIONABLE INSIGHT</a:t>
            </a:r>
            <a:endParaRPr lang="en-US" sz="987" dirty="0"/>
          </a:p>
        </p:txBody>
      </p:sp>
      <p:sp>
        <p:nvSpPr>
          <p:cNvPr id="21" name="Text 14"/>
          <p:cNvSpPr/>
          <p:nvPr/>
        </p:nvSpPr>
        <p:spPr>
          <a:xfrm>
            <a:off x="5079206" y="4423935"/>
            <a:ext cx="3493294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Incentivizing "Tap-to-Pay" and mobile integration is the fastest lever to modernize the brand and reduce operational overhead.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SEGMENTATION: HIGH-VALUE VS. SCALABLE GROWTH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50" y="1214438"/>
            <a:ext cx="4286250" cy="26360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4107656"/>
            <a:ext cx="4286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6AE2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FOCUS: TRANSITIONING "BLUE" CARDHOLDERS TO "SILVER/GOLD"</a:t>
            </a:r>
            <a:endParaRPr lang="en-US" sz="683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394" y="1007269"/>
            <a:ext cx="144661" cy="12858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666780" y="992981"/>
            <a:ext cx="138945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ANCHORS</a:t>
            </a:r>
            <a:endParaRPr lang="en-US" sz="885" dirty="0"/>
          </a:p>
        </p:txBody>
      </p:sp>
      <p:sp>
        <p:nvSpPr>
          <p:cNvPr id="8" name="Text 3"/>
          <p:cNvSpPr/>
          <p:nvPr/>
        </p:nvSpPr>
        <p:spPr>
          <a:xfrm>
            <a:off x="5436394" y="1221581"/>
            <a:ext cx="313610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High-income users drive the highest per-capita revenue but have reached a saturation point within the current Blue tier offerings.</a:t>
            </a:r>
            <a:endParaRPr lang="en-US" sz="834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394" y="2034490"/>
            <a:ext cx="128588" cy="1285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650706" y="2020202"/>
            <a:ext cx="23645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"MID-INCOME" OPPORTUNITY</a:t>
            </a:r>
            <a:endParaRPr lang="en-US" sz="885" dirty="0"/>
          </a:p>
        </p:txBody>
      </p:sp>
      <p:sp>
        <p:nvSpPr>
          <p:cNvPr id="11" name="Text 5"/>
          <p:cNvSpPr/>
          <p:nvPr/>
        </p:nvSpPr>
        <p:spPr>
          <a:xfrm>
            <a:off x="5436394" y="2248802"/>
            <a:ext cx="313610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segment represents the most scalable growth engine, showing high engagement with everyday spending and credit utilization.</a:t>
            </a:r>
            <a:endParaRPr lang="en-US" sz="834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6394" y="3061711"/>
            <a:ext cx="128588" cy="12858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650706" y="3047423"/>
            <a:ext cx="130730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ENGAGEMENT GAP</a:t>
            </a:r>
            <a:endParaRPr lang="en-US" sz="885" dirty="0"/>
          </a:p>
        </p:txBody>
      </p:sp>
      <p:sp>
        <p:nvSpPr>
          <p:cNvPr id="14" name="Text 7"/>
          <p:cNvSpPr/>
          <p:nvPr/>
        </p:nvSpPr>
        <p:spPr>
          <a:xfrm>
            <a:off x="5436394" y="3276023"/>
            <a:ext cx="313610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Low-income and retiree segments show minimal engagement, suggesting these groups require specialized product features or lower entry barriers.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DRIVERS: BEHAVIORAL &amp; PRODUCT ANALYSIS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80505"/>
            <a:ext cx="257175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1591270"/>
            <a:ext cx="159305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6AE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HABIT-DRIVEN SPEND</a:t>
            </a:r>
            <a:endParaRPr lang="en-US" sz="885" dirty="0"/>
          </a:p>
        </p:txBody>
      </p:sp>
      <p:sp>
        <p:nvSpPr>
          <p:cNvPr id="6" name="Text 2"/>
          <p:cNvSpPr/>
          <p:nvPr/>
        </p:nvSpPr>
        <p:spPr>
          <a:xfrm>
            <a:off x="571500" y="1862733"/>
            <a:ext cx="1593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Everyday spending on groceries and utilities forms the bedrock of the $55M revenue, providing high portfolio stability.</a:t>
            </a:r>
            <a:endParaRPr lang="en-US" sz="780" dirty="0"/>
          </a:p>
        </p:txBody>
      </p:sp>
      <p:sp>
        <p:nvSpPr>
          <p:cNvPr id="7" name="Text 3"/>
          <p:cNvSpPr/>
          <p:nvPr/>
        </p:nvSpPr>
        <p:spPr>
          <a:xfrm>
            <a:off x="571500" y="2877145"/>
            <a:ext cx="159305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BC0C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STABILITY</a:t>
            </a:r>
            <a:endParaRPr lang="en-US" sz="584" dirty="0"/>
          </a:p>
        </p:txBody>
      </p:sp>
      <p:sp>
        <p:nvSpPr>
          <p:cNvPr id="8" name="Text 4"/>
          <p:cNvSpPr/>
          <p:nvPr/>
        </p:nvSpPr>
        <p:spPr>
          <a:xfrm>
            <a:off x="571500" y="3028950"/>
            <a:ext cx="159305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 volatility in monthly transaction counts.</a:t>
            </a:r>
            <a:endParaRPr lang="en-US" sz="727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325" y="1180505"/>
            <a:ext cx="28575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00325" y="1591270"/>
            <a:ext cx="13716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6AE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STICKINESS</a:t>
            </a:r>
            <a:endParaRPr lang="en-US" sz="885" dirty="0"/>
          </a:p>
        </p:txBody>
      </p:sp>
      <p:sp>
        <p:nvSpPr>
          <p:cNvPr id="11" name="Text 6"/>
          <p:cNvSpPr/>
          <p:nvPr/>
        </p:nvSpPr>
        <p:spPr>
          <a:xfrm>
            <a:off x="2600325" y="2019895"/>
            <a:ext cx="1371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Blue cards exhibit high retention rates but suffer from low cross-sell penetration into premium tiers.</a:t>
            </a:r>
            <a:endParaRPr lang="en-US" sz="780" dirty="0"/>
          </a:p>
        </p:txBody>
      </p:sp>
      <p:sp>
        <p:nvSpPr>
          <p:cNvPr id="12" name="Text 7"/>
          <p:cNvSpPr/>
          <p:nvPr/>
        </p:nvSpPr>
        <p:spPr>
          <a:xfrm>
            <a:off x="2600325" y="3205758"/>
            <a:ext cx="13716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BC0C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RETENTION RATE</a:t>
            </a:r>
            <a:endParaRPr lang="en-US" sz="584" dirty="0"/>
          </a:p>
        </p:txBody>
      </p:sp>
      <p:sp>
        <p:nvSpPr>
          <p:cNvPr id="13" name="Text 8"/>
          <p:cNvSpPr/>
          <p:nvPr/>
        </p:nvSpPr>
        <p:spPr>
          <a:xfrm>
            <a:off x="2600325" y="3357563"/>
            <a:ext cx="13716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92% Annual Retention for Blue cardholders.</a:t>
            </a:r>
            <a:endParaRPr lang="en-US" sz="727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694" y="1180505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407694" y="1591270"/>
            <a:ext cx="21431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6AE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CHANNEL EFFICIENCY</a:t>
            </a:r>
            <a:endParaRPr lang="en-US" sz="885" dirty="0"/>
          </a:p>
        </p:txBody>
      </p:sp>
      <p:sp>
        <p:nvSpPr>
          <p:cNvPr id="16" name="Text 10"/>
          <p:cNvSpPr/>
          <p:nvPr/>
        </p:nvSpPr>
        <p:spPr>
          <a:xfrm>
            <a:off x="4407694" y="1862733"/>
            <a:ext cx="21431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Offline channels lead in acquisition volume but carry significantly higher operational and service costs.</a:t>
            </a:r>
            <a:endParaRPr lang="en-US" sz="78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694" y="2591395"/>
            <a:ext cx="2143125" cy="1285875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6588" y="1180505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986588" y="1591270"/>
            <a:ext cx="13716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6AE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GROWTH LEVER</a:t>
            </a:r>
            <a:endParaRPr lang="en-US" sz="885" dirty="0"/>
          </a:p>
        </p:txBody>
      </p:sp>
      <p:sp>
        <p:nvSpPr>
          <p:cNvPr id="20" name="Text 12"/>
          <p:cNvSpPr/>
          <p:nvPr/>
        </p:nvSpPr>
        <p:spPr>
          <a:xfrm>
            <a:off x="6986588" y="1862733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Enhancing the digital value proposition is the primary catalyst for increasing transaction frequency.</a:t>
            </a:r>
            <a:endParaRPr lang="en-US" sz="780" dirty="0"/>
          </a:p>
        </p:txBody>
      </p:sp>
      <p:sp>
        <p:nvSpPr>
          <p:cNvPr id="21" name="Text 13"/>
          <p:cNvSpPr/>
          <p:nvPr/>
        </p:nvSpPr>
        <p:spPr>
          <a:xfrm>
            <a:off x="6986588" y="2877145"/>
            <a:ext cx="13716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BC0C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 METRIC</a:t>
            </a:r>
            <a:endParaRPr lang="en-US" sz="584" dirty="0"/>
          </a:p>
        </p:txBody>
      </p:sp>
      <p:sp>
        <p:nvSpPr>
          <p:cNvPr id="22" name="Text 14"/>
          <p:cNvSpPr/>
          <p:nvPr/>
        </p:nvSpPr>
        <p:spPr>
          <a:xfrm>
            <a:off x="6986588" y="3028950"/>
            <a:ext cx="13716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+15% Frequency via Mobile Integration.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ASSESSMENT: IDENTIFYING PORTFOLIO VULNERABILITIES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947" y="1126034"/>
            <a:ext cx="142875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46547" y="1110853"/>
            <a:ext cx="174486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CONCENTRATION RISK</a:t>
            </a:r>
            <a:endParaRPr lang="en-US" sz="987" dirty="0"/>
          </a:p>
        </p:txBody>
      </p:sp>
      <p:sp>
        <p:nvSpPr>
          <p:cNvPr id="6" name="Text 2"/>
          <p:cNvSpPr/>
          <p:nvPr/>
        </p:nvSpPr>
        <p:spPr>
          <a:xfrm>
            <a:off x="717947" y="1355527"/>
            <a:ext cx="36218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Heavy reliance on the "Blue" product tier (83% revenue) and traditional "Swipe" methods (64%) creates a fragile revenue base.</a:t>
            </a:r>
            <a:endParaRPr lang="en-US" sz="78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47" y="1741289"/>
            <a:ext cx="3621881" cy="642938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172" y="1126034"/>
            <a:ext cx="160734" cy="14287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050631" y="1110853"/>
            <a:ext cx="214133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GEOGRAPHIC DEPENDENCY</a:t>
            </a:r>
            <a:endParaRPr lang="en-US" sz="987" dirty="0"/>
          </a:p>
        </p:txBody>
      </p:sp>
      <p:sp>
        <p:nvSpPr>
          <p:cNvPr id="10" name="Text 4"/>
          <p:cNvSpPr/>
          <p:nvPr/>
        </p:nvSpPr>
        <p:spPr>
          <a:xfrm>
            <a:off x="4804172" y="1355527"/>
            <a:ext cx="36218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is concentrated in a few regions, exposing the portfolio to localized economic or regulatory shocks.</a:t>
            </a:r>
            <a:endParaRPr lang="en-US" sz="78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47" y="3208437"/>
            <a:ext cx="142875" cy="14287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46547" y="3193256"/>
            <a:ext cx="190559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 OBSOLESCENCE</a:t>
            </a:r>
            <a:endParaRPr lang="en-US" sz="987" dirty="0"/>
          </a:p>
        </p:txBody>
      </p:sp>
      <p:sp>
        <p:nvSpPr>
          <p:cNvPr id="13" name="Text 6"/>
          <p:cNvSpPr/>
          <p:nvPr/>
        </p:nvSpPr>
        <p:spPr>
          <a:xfrm>
            <a:off x="717947" y="3437930"/>
            <a:ext cx="36218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Slow migration to digital channels risks losing share to agile fintech and digital-native platforms.</a:t>
            </a:r>
            <a:endParaRPr lang="en-US" sz="78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4172" y="3208437"/>
            <a:ext cx="142875" cy="14287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032772" y="3193256"/>
            <a:ext cx="177343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MITIGATION STRATEGY</a:t>
            </a:r>
            <a:endParaRPr lang="en-US" sz="987" dirty="0"/>
          </a:p>
        </p:txBody>
      </p:sp>
      <p:sp>
        <p:nvSpPr>
          <p:cNvPr id="16" name="Text 8"/>
          <p:cNvSpPr/>
          <p:nvPr/>
        </p:nvSpPr>
        <p:spPr>
          <a:xfrm>
            <a:off x="4804172" y="3437930"/>
            <a:ext cx="36218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6AE2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Diversification:</a:t>
            </a:r>
            <a:endParaRPr lang="en-US" sz="734" dirty="0"/>
          </a:p>
        </p:txBody>
      </p:sp>
      <p:sp>
        <p:nvSpPr>
          <p:cNvPr id="17" name="Text 9"/>
          <p:cNvSpPr/>
          <p:nvPr/>
        </p:nvSpPr>
        <p:spPr>
          <a:xfrm>
            <a:off x="4804172" y="3621881"/>
            <a:ext cx="321825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Expand geographically and encourage product-tier migration for</a:t>
            </a:r>
            <a:endParaRPr lang="en-US" sz="780" dirty="0"/>
          </a:p>
        </p:txBody>
      </p:sp>
      <p:sp>
        <p:nvSpPr>
          <p:cNvPr id="18" name="Text 10"/>
          <p:cNvSpPr/>
          <p:nvPr/>
        </p:nvSpPr>
        <p:spPr>
          <a:xfrm>
            <a:off x="4804172" y="3793331"/>
            <a:ext cx="50542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resilience.</a:t>
            </a:r>
            <a:endParaRPr lang="en-US" sz="780" dirty="0"/>
          </a:p>
        </p:txBody>
      </p:sp>
      <p:sp>
        <p:nvSpPr>
          <p:cNvPr id="19" name="Text 11"/>
          <p:cNvSpPr/>
          <p:nvPr/>
        </p:nvSpPr>
        <p:spPr>
          <a:xfrm>
            <a:off x="4804172" y="4009430"/>
            <a:ext cx="36218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6AE2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 Integration:</a:t>
            </a:r>
            <a:endParaRPr lang="en-US" sz="734" dirty="0"/>
          </a:p>
        </p:txBody>
      </p:sp>
      <p:sp>
        <p:nvSpPr>
          <p:cNvPr id="20" name="Text 12"/>
          <p:cNvSpPr/>
          <p:nvPr/>
        </p:nvSpPr>
        <p:spPr>
          <a:xfrm>
            <a:off x="4804172" y="4193381"/>
            <a:ext cx="307359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Modernize transaction flows to cut costs and boost retention.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RECOMMENDATIONS: A THREE-PILLAR GROWTH PLAN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91220"/>
            <a:ext cx="214313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1696641"/>
            <a:ext cx="2381241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spc="1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PREMIUM MIGRATION</a:t>
            </a:r>
            <a:endParaRPr lang="en-US" sz="1090" dirty="0"/>
          </a:p>
        </p:txBody>
      </p:sp>
      <p:sp>
        <p:nvSpPr>
          <p:cNvPr id="6" name="Text 2"/>
          <p:cNvSpPr/>
          <p:nvPr/>
        </p:nvSpPr>
        <p:spPr>
          <a:xfrm>
            <a:off x="571500" y="2030611"/>
            <a:ext cx="2381241" cy="971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Launch a targeted "Upsell" campaign for high-usage Blue cardholders. Focus on transitioning them to Silver and Gold tiers to diversify revenue and increase per-capita value.</a:t>
            </a:r>
            <a:endParaRPr lang="en-US" sz="834" dirty="0"/>
          </a:p>
        </p:txBody>
      </p:sp>
      <p:sp>
        <p:nvSpPr>
          <p:cNvPr id="7" name="Text 3"/>
          <p:cNvSpPr/>
          <p:nvPr/>
        </p:nvSpPr>
        <p:spPr>
          <a:xfrm>
            <a:off x="571500" y="3323602"/>
            <a:ext cx="238124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6AE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ACTION</a:t>
            </a:r>
            <a:endParaRPr lang="en-US" sz="683" dirty="0"/>
          </a:p>
        </p:txBody>
      </p:sp>
      <p:sp>
        <p:nvSpPr>
          <p:cNvPr id="8" name="Text 4"/>
          <p:cNvSpPr/>
          <p:nvPr/>
        </p:nvSpPr>
        <p:spPr>
          <a:xfrm>
            <a:off x="571500" y="3509339"/>
            <a:ext cx="192881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eligibility triggers based on</a:t>
            </a:r>
            <a:endParaRPr lang="en-US" sz="780" dirty="0"/>
          </a:p>
        </p:txBody>
      </p:sp>
      <p:sp>
        <p:nvSpPr>
          <p:cNvPr id="9" name="Text 5"/>
          <p:cNvSpPr/>
          <p:nvPr/>
        </p:nvSpPr>
        <p:spPr>
          <a:xfrm>
            <a:off x="571500" y="3664716"/>
            <a:ext cx="196453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spending thresholds and credit history.</a:t>
            </a:r>
            <a:endParaRPr lang="en-US" sz="78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1384" y="1191220"/>
            <a:ext cx="214313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31384" y="1696641"/>
            <a:ext cx="2088347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spc="1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 ACCELERATION</a:t>
            </a:r>
            <a:endParaRPr lang="en-US" sz="1090" dirty="0"/>
          </a:p>
        </p:txBody>
      </p:sp>
      <p:sp>
        <p:nvSpPr>
          <p:cNvPr id="12" name="Text 7"/>
          <p:cNvSpPr/>
          <p:nvPr/>
        </p:nvSpPr>
        <p:spPr>
          <a:xfrm>
            <a:off x="3531384" y="2221706"/>
            <a:ext cx="2088347" cy="7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"Digital-First" incentives, such as bonus points for mobile wallet transactions and paperless billing, to modernize the transaction ecosystem.</a:t>
            </a:r>
            <a:endParaRPr lang="en-US" sz="834" dirty="0"/>
          </a:p>
        </p:txBody>
      </p:sp>
      <p:sp>
        <p:nvSpPr>
          <p:cNvPr id="13" name="Text 8"/>
          <p:cNvSpPr/>
          <p:nvPr/>
        </p:nvSpPr>
        <p:spPr>
          <a:xfrm>
            <a:off x="3531384" y="3320393"/>
            <a:ext cx="208834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6AE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ACTION</a:t>
            </a:r>
            <a:endParaRPr lang="en-US" sz="683" dirty="0"/>
          </a:p>
        </p:txBody>
      </p:sp>
      <p:sp>
        <p:nvSpPr>
          <p:cNvPr id="14" name="Text 9"/>
          <p:cNvSpPr/>
          <p:nvPr/>
        </p:nvSpPr>
        <p:spPr>
          <a:xfrm>
            <a:off x="3531384" y="3506130"/>
            <a:ext cx="159127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 seamless "Tap-to-Pay"</a:t>
            </a:r>
            <a:endParaRPr lang="en-US" sz="780" dirty="0"/>
          </a:p>
        </p:txBody>
      </p:sp>
      <p:sp>
        <p:nvSpPr>
          <p:cNvPr id="15" name="Text 10"/>
          <p:cNvSpPr/>
          <p:nvPr/>
        </p:nvSpPr>
        <p:spPr>
          <a:xfrm>
            <a:off x="3531384" y="3661507"/>
            <a:ext cx="148411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onboarding within the mobile</a:t>
            </a:r>
            <a:endParaRPr lang="en-US" sz="780" dirty="0"/>
          </a:p>
        </p:txBody>
      </p:sp>
      <p:sp>
        <p:nvSpPr>
          <p:cNvPr id="16" name="Text 11"/>
          <p:cNvSpPr/>
          <p:nvPr/>
        </p:nvSpPr>
        <p:spPr>
          <a:xfrm>
            <a:off x="3531384" y="3816883"/>
            <a:ext cx="57864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application.</a:t>
            </a:r>
            <a:endParaRPr lang="en-US" sz="78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375" y="1191220"/>
            <a:ext cx="357188" cy="2857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98375" y="1696641"/>
            <a:ext cx="208837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spc="1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SEGMENT EXPANSION</a:t>
            </a:r>
            <a:endParaRPr lang="en-US" sz="1090" dirty="0"/>
          </a:p>
        </p:txBody>
      </p:sp>
      <p:sp>
        <p:nvSpPr>
          <p:cNvPr id="19" name="Text 13"/>
          <p:cNvSpPr/>
          <p:nvPr/>
        </p:nvSpPr>
        <p:spPr>
          <a:xfrm>
            <a:off x="6198375" y="2030611"/>
            <a:ext cx="2088375" cy="971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 tailored marketing for the mid-income segment, emphasizing credit-building features and lifestyle rewards that resonate with everyday spending habits.</a:t>
            </a:r>
            <a:endParaRPr lang="en-US" sz="834" dirty="0"/>
          </a:p>
        </p:txBody>
      </p:sp>
      <p:sp>
        <p:nvSpPr>
          <p:cNvPr id="20" name="Text 14"/>
          <p:cNvSpPr/>
          <p:nvPr/>
        </p:nvSpPr>
        <p:spPr>
          <a:xfrm>
            <a:off x="6198375" y="3323602"/>
            <a:ext cx="20883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6AE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ACTION</a:t>
            </a:r>
            <a:endParaRPr lang="en-US" sz="683" dirty="0"/>
          </a:p>
        </p:txBody>
      </p:sp>
      <p:sp>
        <p:nvSpPr>
          <p:cNvPr id="21" name="Text 15"/>
          <p:cNvSpPr/>
          <p:nvPr/>
        </p:nvSpPr>
        <p:spPr>
          <a:xfrm>
            <a:off x="6198375" y="3509339"/>
            <a:ext cx="189130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Expand acquisition efforts into under-</a:t>
            </a:r>
            <a:endParaRPr lang="en-US" sz="780" dirty="0"/>
          </a:p>
        </p:txBody>
      </p:sp>
      <p:sp>
        <p:nvSpPr>
          <p:cNvPr id="22" name="Text 16"/>
          <p:cNvSpPr/>
          <p:nvPr/>
        </p:nvSpPr>
        <p:spPr>
          <a:xfrm>
            <a:off x="6198375" y="3664716"/>
            <a:ext cx="177522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represented geographic markets to</a:t>
            </a:r>
            <a:endParaRPr lang="en-US" sz="780" dirty="0"/>
          </a:p>
        </p:txBody>
      </p:sp>
      <p:sp>
        <p:nvSpPr>
          <p:cNvPr id="23" name="Text 17"/>
          <p:cNvSpPr/>
          <p:nvPr/>
        </p:nvSpPr>
        <p:spPr>
          <a:xfrm>
            <a:off x="6198375" y="3820092"/>
            <a:ext cx="62686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risk.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IMPACT: PROJECTING LONG-TERM VALUE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143000"/>
            <a:ext cx="1714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-20%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571500" y="1618059"/>
            <a:ext cx="1714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6AE2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 EXPOSURE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2571750" y="1143000"/>
            <a:ext cx="1714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+25%</a:t>
            </a:r>
            <a:endParaRPr lang="en-US" sz="2436" dirty="0"/>
          </a:p>
        </p:txBody>
      </p:sp>
      <p:sp>
        <p:nvSpPr>
          <p:cNvPr id="7" name="Text 4"/>
          <p:cNvSpPr/>
          <p:nvPr/>
        </p:nvSpPr>
        <p:spPr>
          <a:xfrm>
            <a:off x="2571750" y="1618059"/>
            <a:ext cx="1714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6AE2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LIFETIME VALUE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4572000" y="1143000"/>
            <a:ext cx="1714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30%</a:t>
            </a:r>
            <a:endParaRPr lang="en-US" sz="2436" dirty="0"/>
          </a:p>
        </p:txBody>
      </p:sp>
      <p:sp>
        <p:nvSpPr>
          <p:cNvPr id="9" name="Text 6"/>
          <p:cNvSpPr/>
          <p:nvPr/>
        </p:nvSpPr>
        <p:spPr>
          <a:xfrm>
            <a:off x="4572000" y="1618059"/>
            <a:ext cx="1714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6AE2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 SHIFT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6572250" y="1143000"/>
            <a:ext cx="1714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</a:t>
            </a:r>
            <a:endParaRPr lang="en-US" sz="2436" dirty="0"/>
          </a:p>
        </p:txBody>
      </p:sp>
      <p:sp>
        <p:nvSpPr>
          <p:cNvPr id="11" name="Text 8"/>
          <p:cNvSpPr/>
          <p:nvPr/>
        </p:nvSpPr>
        <p:spPr>
          <a:xfrm>
            <a:off x="6572250" y="1618059"/>
            <a:ext cx="1714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6AE2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MARKET POSITION</a:t>
            </a:r>
            <a:endParaRPr lang="en-US" sz="683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10991"/>
            <a:ext cx="142875" cy="1428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7250" y="2182416"/>
            <a:ext cx="32861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REDUCTION</a:t>
            </a:r>
            <a:endParaRPr lang="en-US" sz="885" dirty="0"/>
          </a:p>
        </p:txBody>
      </p:sp>
      <p:sp>
        <p:nvSpPr>
          <p:cNvPr id="14" name="Text 10"/>
          <p:cNvSpPr/>
          <p:nvPr/>
        </p:nvSpPr>
        <p:spPr>
          <a:xfrm>
            <a:off x="857250" y="2396728"/>
            <a:ext cx="328612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Diversifying the revenue base will decrease concentration risk by an estimated 20% over 18 months through product tier expansion.</a:t>
            </a:r>
            <a:endParaRPr lang="en-US" sz="834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88205"/>
            <a:ext cx="178594" cy="1428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2969" y="3159630"/>
            <a:ext cx="325040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OPERATIONAL EFFICIENCY</a:t>
            </a:r>
            <a:endParaRPr lang="en-US" sz="885" dirty="0"/>
          </a:p>
        </p:txBody>
      </p:sp>
      <p:sp>
        <p:nvSpPr>
          <p:cNvPr id="17" name="Text 12"/>
          <p:cNvSpPr/>
          <p:nvPr/>
        </p:nvSpPr>
        <p:spPr>
          <a:xfrm>
            <a:off x="892969" y="3373943"/>
            <a:ext cx="325040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Shifting 30% of swipe volume to digital can significantly reduce transaction processing and physical card replacement costs.</a:t>
            </a:r>
            <a:endParaRPr lang="en-US" sz="834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65420"/>
            <a:ext cx="107156" cy="1428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1531" y="4136845"/>
            <a:ext cx="332184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POSITION</a:t>
            </a:r>
            <a:endParaRPr lang="en-US" sz="885" dirty="0"/>
          </a:p>
        </p:txBody>
      </p:sp>
      <p:sp>
        <p:nvSpPr>
          <p:cNvPr id="20" name="Text 14"/>
          <p:cNvSpPr/>
          <p:nvPr/>
        </p:nvSpPr>
        <p:spPr>
          <a:xfrm>
            <a:off x="821531" y="4351158"/>
            <a:ext cx="3321844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Modernizing the portfolio strengthens the brand's competitive stance against digital-native competitors and fintech disruptors.</a:t>
            </a:r>
            <a:endParaRPr lang="en-US" sz="834" dirty="0"/>
          </a:p>
        </p:txBody>
      </p:sp>
      <p:sp>
        <p:nvSpPr>
          <p:cNvPr id="21" name="Text 15"/>
          <p:cNvSpPr/>
          <p:nvPr/>
        </p:nvSpPr>
        <p:spPr>
          <a:xfrm>
            <a:off x="4579144" y="2182416"/>
            <a:ext cx="399335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6AE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PROJECTED LTV GROWTH ($)</a:t>
            </a:r>
            <a:endParaRPr lang="en-US" sz="683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9144" y="2446734"/>
            <a:ext cx="3993356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ROADMAP: Q2 2026 - Q1 2027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800100" y="1135856"/>
            <a:ext cx="162877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Q2 2026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800100" y="1416248"/>
            <a:ext cx="16287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6AE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 FOUNDATION</a:t>
            </a:r>
            <a:endParaRPr lang="en-US" sz="784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09167"/>
            <a:ext cx="85725" cy="857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1550" y="1880592"/>
            <a:ext cx="14573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Launch Digital Wallet integration campaign.</a:t>
            </a:r>
            <a:endParaRPr lang="en-US" sz="727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372060"/>
            <a:ext cx="85725" cy="857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71550" y="2343485"/>
            <a:ext cx="14573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Update mobile app UI for enhanced transaction engagement.</a:t>
            </a:r>
            <a:endParaRPr lang="en-US" sz="727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994961"/>
            <a:ext cx="85725" cy="857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50" y="2966386"/>
            <a:ext cx="14573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 "Tap-to-Pay" incentive structures.</a:t>
            </a:r>
            <a:endParaRPr lang="en-US" sz="727" dirty="0"/>
          </a:p>
        </p:txBody>
      </p:sp>
      <p:sp>
        <p:nvSpPr>
          <p:cNvPr id="12" name="Text 6"/>
          <p:cNvSpPr/>
          <p:nvPr/>
        </p:nvSpPr>
        <p:spPr>
          <a:xfrm>
            <a:off x="800100" y="3572154"/>
            <a:ext cx="1628775" cy="194667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0E1DD">
                    <a:alpha val="5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1: INFRASTRUCTURE</a:t>
            </a:r>
            <a:endParaRPr lang="en-US" sz="584" dirty="0"/>
          </a:p>
        </p:txBody>
      </p:sp>
      <p:sp>
        <p:nvSpPr>
          <p:cNvPr id="13" name="Text 7"/>
          <p:cNvSpPr/>
          <p:nvPr/>
        </p:nvSpPr>
        <p:spPr>
          <a:xfrm>
            <a:off x="2793206" y="1135856"/>
            <a:ext cx="163591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Q3 2026</a:t>
            </a:r>
            <a:endParaRPr lang="en-US" sz="1193" dirty="0"/>
          </a:p>
        </p:txBody>
      </p:sp>
      <p:sp>
        <p:nvSpPr>
          <p:cNvPr id="14" name="Text 8"/>
          <p:cNvSpPr/>
          <p:nvPr/>
        </p:nvSpPr>
        <p:spPr>
          <a:xfrm>
            <a:off x="2793206" y="1416248"/>
            <a:ext cx="16359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6AE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PREMIUM MIGRATION</a:t>
            </a:r>
            <a:endParaRPr lang="en-US" sz="784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3206" y="1909167"/>
            <a:ext cx="85725" cy="857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964656" y="1880592"/>
            <a:ext cx="146446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Roll out "Premium Tier Upsell" for high-value Blue cardholders.</a:t>
            </a:r>
            <a:endParaRPr lang="en-US" sz="727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3206" y="2532069"/>
            <a:ext cx="85725" cy="8572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964656" y="2503494"/>
            <a:ext cx="146446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Launch Gold/Platinum exclusive lifestyle rewards.</a:t>
            </a:r>
            <a:endParaRPr lang="en-US" sz="727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3206" y="2994961"/>
            <a:ext cx="85725" cy="8572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2964656" y="2966386"/>
            <a:ext cx="146446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automated credit limit increase triggers.</a:t>
            </a:r>
            <a:endParaRPr lang="en-US" sz="727" dirty="0"/>
          </a:p>
        </p:txBody>
      </p:sp>
      <p:sp>
        <p:nvSpPr>
          <p:cNvPr id="21" name="Text 12"/>
          <p:cNvSpPr/>
          <p:nvPr/>
        </p:nvSpPr>
        <p:spPr>
          <a:xfrm>
            <a:off x="2793206" y="3572154"/>
            <a:ext cx="1635919" cy="194667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0E1DD">
                    <a:alpha val="5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2: UPSELL</a:t>
            </a:r>
            <a:endParaRPr lang="en-US" sz="584" dirty="0"/>
          </a:p>
        </p:txBody>
      </p:sp>
      <p:sp>
        <p:nvSpPr>
          <p:cNvPr id="22" name="Text 13"/>
          <p:cNvSpPr/>
          <p:nvPr/>
        </p:nvSpPr>
        <p:spPr>
          <a:xfrm>
            <a:off x="4793456" y="1135856"/>
            <a:ext cx="163591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Q4 2026</a:t>
            </a:r>
            <a:endParaRPr lang="en-US" sz="1193" dirty="0"/>
          </a:p>
        </p:txBody>
      </p:sp>
      <p:sp>
        <p:nvSpPr>
          <p:cNvPr id="23" name="Text 14"/>
          <p:cNvSpPr/>
          <p:nvPr/>
        </p:nvSpPr>
        <p:spPr>
          <a:xfrm>
            <a:off x="4793456" y="1416248"/>
            <a:ext cx="16359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6AE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SEGMENT EXPANSION</a:t>
            </a:r>
            <a:endParaRPr lang="en-US" sz="784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3456" y="1909167"/>
            <a:ext cx="85725" cy="85725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964906" y="1880592"/>
            <a:ext cx="146446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Expand geographic marketing to under-represented regions.</a:t>
            </a:r>
            <a:endParaRPr lang="en-US" sz="727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93456" y="2372060"/>
            <a:ext cx="85725" cy="85725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4964906" y="2343485"/>
            <a:ext cx="146446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Introduce mid-income specific credit-building rewards.</a:t>
            </a:r>
            <a:endParaRPr lang="en-US" sz="727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3456" y="2834953"/>
            <a:ext cx="85725" cy="85725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4964906" y="2806378"/>
            <a:ext cx="146446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Launch localized community engagement programs.</a:t>
            </a:r>
            <a:endParaRPr lang="en-US" sz="727" dirty="0"/>
          </a:p>
        </p:txBody>
      </p:sp>
      <p:sp>
        <p:nvSpPr>
          <p:cNvPr id="30" name="Text 18"/>
          <p:cNvSpPr/>
          <p:nvPr/>
        </p:nvSpPr>
        <p:spPr>
          <a:xfrm>
            <a:off x="4793456" y="3412145"/>
            <a:ext cx="1635919" cy="194667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0E1DD">
                    <a:alpha val="5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3: GROWTH</a:t>
            </a:r>
            <a:endParaRPr lang="en-US" sz="584" dirty="0"/>
          </a:p>
        </p:txBody>
      </p:sp>
      <p:sp>
        <p:nvSpPr>
          <p:cNvPr id="31" name="Text 19"/>
          <p:cNvSpPr/>
          <p:nvPr/>
        </p:nvSpPr>
        <p:spPr>
          <a:xfrm>
            <a:off x="6793706" y="1135856"/>
            <a:ext cx="163591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 2027</a:t>
            </a:r>
            <a:endParaRPr lang="en-US" sz="1193" dirty="0"/>
          </a:p>
        </p:txBody>
      </p:sp>
      <p:sp>
        <p:nvSpPr>
          <p:cNvPr id="32" name="Text 20"/>
          <p:cNvSpPr/>
          <p:nvPr/>
        </p:nvSpPr>
        <p:spPr>
          <a:xfrm>
            <a:off x="6793706" y="1416248"/>
            <a:ext cx="16359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6AE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OPTIMIZATION &amp; SCALE</a:t>
            </a:r>
            <a:endParaRPr lang="en-US" sz="784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93706" y="1909167"/>
            <a:ext cx="85725" cy="85725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6965156" y="1880592"/>
            <a:ext cx="146446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Evaluate portfolio performance vs. digital adoption targets.</a:t>
            </a:r>
            <a:endParaRPr lang="en-US" sz="727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93706" y="2372060"/>
            <a:ext cx="85725" cy="85725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6965156" y="2343485"/>
            <a:ext cx="146446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Refine AI-driven cross-sell modeling based on Q3 data.</a:t>
            </a:r>
            <a:endParaRPr lang="en-US" sz="727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93706" y="2834953"/>
            <a:ext cx="85725" cy="85725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965156" y="2806378"/>
            <a:ext cx="146446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Scale successful regional pilots to national level.</a:t>
            </a:r>
            <a:endParaRPr lang="en-US" sz="727" dirty="0"/>
          </a:p>
        </p:txBody>
      </p:sp>
      <p:sp>
        <p:nvSpPr>
          <p:cNvPr id="39" name="Text 24"/>
          <p:cNvSpPr/>
          <p:nvPr/>
        </p:nvSpPr>
        <p:spPr>
          <a:xfrm>
            <a:off x="6793706" y="3412145"/>
            <a:ext cx="1635919" cy="194667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0E1DD">
                    <a:alpha val="5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4: EVALUATION</a:t>
            </a:r>
            <a:endParaRPr lang="en-US" sz="58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CONCLUSION: BUILDING A FUTURE-READY PORTFOLIO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214438"/>
            <a:ext cx="3571875" cy="1157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$55M portfolio demonstrates strong foundational stability but faces critical concentration and digital adoption risks. By executing the three-pillar growth plan, the organization can transition from a traditional credit model to a high-growth, digital-first ecosystem.</a:t>
            </a:r>
            <a:endParaRPr lang="en-US" sz="942" dirty="0"/>
          </a:p>
        </p:txBody>
      </p:sp>
      <p:sp>
        <p:nvSpPr>
          <p:cNvPr id="5" name="Text 2"/>
          <p:cNvSpPr/>
          <p:nvPr/>
        </p:nvSpPr>
        <p:spPr>
          <a:xfrm>
            <a:off x="771525" y="2657419"/>
            <a:ext cx="33718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6AE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VERDICT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771525" y="2902093"/>
            <a:ext cx="33718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E0E1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Focusing on digital adoption and premium migration will unlock an estimated 25% increase in Lifetime Value while significantly reducing operational risk exposure.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5079206" y="1207294"/>
            <a:ext cx="349329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B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DEMONSTRATED EXPERTISE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5079206" y="1630561"/>
            <a:ext cx="163949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ADVANCED DATA MODELING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5079206" y="1966317"/>
            <a:ext cx="1639491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0E1DD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Structuring complex financial datasets into actionable business intelligence.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6933009" y="1630561"/>
            <a:ext cx="16394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STORYTELLING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6933009" y="1827014"/>
            <a:ext cx="1639491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0E1DD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Translating raw KPIs into a compelling and persuasive growth narrative.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5079206" y="2714932"/>
            <a:ext cx="16394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DAX &amp; POWER BI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5079206" y="2911385"/>
            <a:ext cx="1639491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0E1DD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Leveraging technical tools to uncover deep-seated revenue drivers and trends.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6933009" y="2714932"/>
            <a:ext cx="16394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MANAGEMENT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6933009" y="2911385"/>
            <a:ext cx="1639491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0E1DD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Identifying and planning for long-term portfolio vulnerabilities and shocks.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5079206" y="3660000"/>
            <a:ext cx="16394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ANALYSIS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5079206" y="3856453"/>
            <a:ext cx="1639491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0E1DD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Benchmarking internal performance against 2025 industry credit trends.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6933009" y="3660000"/>
            <a:ext cx="16394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STRATEGY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6933009" y="3856453"/>
            <a:ext cx="1639491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0E1DD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Developing multi-phase roadmaps for digital transformation and growth.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2026-03-25T21:54:11Z</dcterms:created>
  <dcterms:modified xsi:type="dcterms:W3CDTF">2026-03-25T21:54:11Z</dcterms:modified>
</cp:coreProperties>
</file>